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tableStyles" Target="tableStyles.xml" /><Relationship Id="rId5" Type="http://schemas.openxmlformats.org/officeDocument/2006/relationships/slide" Target="slides/slide4.xml" /><Relationship Id="rId10"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5.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GB"/>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9/28/2023</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9/28/2023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9/28/2023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9/28/2023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9/28/2023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9/28/2023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GB"/>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GB"/>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GB"/>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image" Target="../media/image4.png"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3.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9/28/2023</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5.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9.jpeg" /><Relationship Id="rId2" Type="http://schemas.openxmlformats.org/officeDocument/2006/relationships/image" Target="../media/image8.jpeg" /><Relationship Id="rId1" Type="http://schemas.openxmlformats.org/officeDocument/2006/relationships/slideLayout" Target="../slideLayouts/slideLayout2.xml" /><Relationship Id="rId4" Type="http://schemas.openxmlformats.org/officeDocument/2006/relationships/image" Target="../media/image10.jpeg"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6ABBE-65DC-698D-A8C0-352B5FB9184F}"/>
              </a:ext>
            </a:extLst>
          </p:cNvPr>
          <p:cNvSpPr>
            <a:spLocks noGrp="1"/>
          </p:cNvSpPr>
          <p:nvPr>
            <p:ph type="ctrTitle"/>
          </p:nvPr>
        </p:nvSpPr>
        <p:spPr>
          <a:xfrm>
            <a:off x="2847179" y="2671233"/>
            <a:ext cx="6815669" cy="1515533"/>
          </a:xfrm>
        </p:spPr>
        <p:txBody>
          <a:bodyPr/>
          <a:lstStyle/>
          <a:p>
            <a:r>
              <a:rPr lang="en-GB" dirty="0"/>
              <a:t>Customer churn prediction </a:t>
            </a:r>
            <a:endParaRPr lang="en-US" dirty="0"/>
          </a:p>
        </p:txBody>
      </p:sp>
    </p:spTree>
    <p:extLst>
      <p:ext uri="{BB962C8B-B14F-4D97-AF65-F5344CB8AC3E}">
        <p14:creationId xmlns:p14="http://schemas.microsoft.com/office/powerpoint/2010/main" val="429111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64143B-9E53-F66C-9061-8F1BB95A46BD}"/>
              </a:ext>
            </a:extLst>
          </p:cNvPr>
          <p:cNvSpPr>
            <a:spLocks noGrp="1"/>
          </p:cNvSpPr>
          <p:nvPr>
            <p:ph type="body" idx="1"/>
          </p:nvPr>
        </p:nvSpPr>
        <p:spPr/>
        <p:txBody>
          <a:bodyPr/>
          <a:lstStyle/>
          <a:p>
            <a:r>
              <a:rPr lang="en-GB" dirty="0"/>
              <a:t>Project definition </a:t>
            </a:r>
            <a:endParaRPr lang="en-US" dirty="0"/>
          </a:p>
        </p:txBody>
      </p:sp>
      <p:sp>
        <p:nvSpPr>
          <p:cNvPr id="3" name="Content Placeholder 2">
            <a:extLst>
              <a:ext uri="{FF2B5EF4-FFF2-40B4-BE49-F238E27FC236}">
                <a16:creationId xmlns:a16="http://schemas.microsoft.com/office/drawing/2014/main" id="{66A0A505-574C-4DB0-13EE-925B2714B950}"/>
              </a:ext>
            </a:extLst>
          </p:cNvPr>
          <p:cNvSpPr>
            <a:spLocks noGrp="1"/>
          </p:cNvSpPr>
          <p:nvPr>
            <p:ph sz="half" idx="2"/>
          </p:nvPr>
        </p:nvSpPr>
        <p:spPr/>
        <p:txBody>
          <a:bodyPr>
            <a:normAutofit lnSpcReduction="10000"/>
          </a:bodyPr>
          <a:lstStyle/>
          <a:p>
            <a:r>
              <a:rPr lang="en-GB" dirty="0">
                <a:solidFill>
                  <a:srgbClr val="C00000"/>
                </a:solidFill>
              </a:rPr>
              <a:t>What is churn prediction? </a:t>
            </a:r>
            <a:r>
              <a:rPr lang="en-GB" dirty="0"/>
              <a:t>Churn prediction is predicting which customers are at high risk of leaving your company or </a:t>
            </a:r>
            <a:r>
              <a:rPr lang="en-GB" dirty="0" err="1"/>
              <a:t>canceling</a:t>
            </a:r>
            <a:r>
              <a:rPr lang="en-GB" dirty="0"/>
              <a:t> a subscription to a service, based on their </a:t>
            </a:r>
            <a:r>
              <a:rPr lang="en-GB" dirty="0" err="1"/>
              <a:t>behavior</a:t>
            </a:r>
            <a:r>
              <a:rPr lang="en-GB" dirty="0"/>
              <a:t> with your product.</a:t>
            </a:r>
            <a:endParaRPr lang="en-US" dirty="0"/>
          </a:p>
        </p:txBody>
      </p:sp>
      <p:sp>
        <p:nvSpPr>
          <p:cNvPr id="5" name="Text Placeholder 4">
            <a:extLst>
              <a:ext uri="{FF2B5EF4-FFF2-40B4-BE49-F238E27FC236}">
                <a16:creationId xmlns:a16="http://schemas.microsoft.com/office/drawing/2014/main" id="{4D64ECAE-847B-5030-39F2-6C1B4AD3BA83}"/>
              </a:ext>
            </a:extLst>
          </p:cNvPr>
          <p:cNvSpPr>
            <a:spLocks noGrp="1"/>
          </p:cNvSpPr>
          <p:nvPr>
            <p:ph type="body" sz="quarter" idx="3"/>
          </p:nvPr>
        </p:nvSpPr>
        <p:spPr/>
        <p:txBody>
          <a:bodyPr/>
          <a:lstStyle/>
          <a:p>
            <a:r>
              <a:rPr lang="en-GB" dirty="0"/>
              <a:t>Project title </a:t>
            </a:r>
            <a:endParaRPr lang="en-US" dirty="0"/>
          </a:p>
        </p:txBody>
      </p:sp>
      <p:sp>
        <p:nvSpPr>
          <p:cNvPr id="6" name="Content Placeholder 5">
            <a:extLst>
              <a:ext uri="{FF2B5EF4-FFF2-40B4-BE49-F238E27FC236}">
                <a16:creationId xmlns:a16="http://schemas.microsoft.com/office/drawing/2014/main" id="{0ED5E3A1-3487-FEFB-B6A9-3E850769F1FA}"/>
              </a:ext>
            </a:extLst>
          </p:cNvPr>
          <p:cNvSpPr>
            <a:spLocks noGrp="1"/>
          </p:cNvSpPr>
          <p:nvPr>
            <p:ph sz="quarter" idx="4"/>
          </p:nvPr>
        </p:nvSpPr>
        <p:spPr/>
        <p:txBody>
          <a:bodyPr>
            <a:normAutofit lnSpcReduction="10000"/>
          </a:bodyPr>
          <a:lstStyle/>
          <a:p>
            <a:r>
              <a:rPr lang="en-GB" dirty="0"/>
              <a:t>Analysing demographic characteristics of marginal workers in Tamil Nadu</a:t>
            </a:r>
            <a:endParaRPr lang="en-US" dirty="0"/>
          </a:p>
        </p:txBody>
      </p:sp>
      <p:sp>
        <p:nvSpPr>
          <p:cNvPr id="8" name="Title 7">
            <a:extLst>
              <a:ext uri="{FF2B5EF4-FFF2-40B4-BE49-F238E27FC236}">
                <a16:creationId xmlns:a16="http://schemas.microsoft.com/office/drawing/2014/main" id="{EDBB7CFD-9DFC-F0DF-62CB-B6021120F084}"/>
              </a:ext>
            </a:extLst>
          </p:cNvPr>
          <p:cNvSpPr>
            <a:spLocks noGrp="1"/>
          </p:cNvSpPr>
          <p:nvPr>
            <p:ph type="title"/>
          </p:nvPr>
        </p:nvSpPr>
        <p:spPr/>
        <p:txBody>
          <a:bodyPr/>
          <a:lstStyle/>
          <a:p>
            <a:r>
              <a:rPr lang="en-GB" dirty="0"/>
              <a:t>Customer churn prediction </a:t>
            </a:r>
            <a:endParaRPr lang="en-US" dirty="0"/>
          </a:p>
        </p:txBody>
      </p:sp>
    </p:spTree>
    <p:extLst>
      <p:ext uri="{BB962C8B-B14F-4D97-AF65-F5344CB8AC3E}">
        <p14:creationId xmlns:p14="http://schemas.microsoft.com/office/powerpoint/2010/main" val="3911089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61496-6CDA-588A-F347-CE7E07A8A696}"/>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94ABAA2-FCAA-E585-84EE-D2758C2566FB}"/>
              </a:ext>
            </a:extLst>
          </p:cNvPr>
          <p:cNvSpPr>
            <a:spLocks noGrp="1"/>
          </p:cNvSpPr>
          <p:nvPr>
            <p:ph type="body" idx="1"/>
          </p:nvPr>
        </p:nvSpPr>
        <p:spPr/>
        <p:txBody>
          <a:bodyPr/>
          <a:lstStyle/>
          <a:p>
            <a:r>
              <a:rPr lang="en-GB" dirty="0"/>
              <a:t>Demographic analysis </a:t>
            </a:r>
            <a:endParaRPr lang="en-US" dirty="0"/>
          </a:p>
        </p:txBody>
      </p:sp>
      <p:sp>
        <p:nvSpPr>
          <p:cNvPr id="4" name="Content Placeholder 3">
            <a:extLst>
              <a:ext uri="{FF2B5EF4-FFF2-40B4-BE49-F238E27FC236}">
                <a16:creationId xmlns:a16="http://schemas.microsoft.com/office/drawing/2014/main" id="{29E23F92-A877-5B18-FE7E-A64DAB919CA6}"/>
              </a:ext>
            </a:extLst>
          </p:cNvPr>
          <p:cNvSpPr>
            <a:spLocks noGrp="1"/>
          </p:cNvSpPr>
          <p:nvPr>
            <p:ph sz="half" idx="2"/>
          </p:nvPr>
        </p:nvSpPr>
        <p:spPr/>
        <p:txBody>
          <a:bodyPr>
            <a:normAutofit fontScale="62500" lnSpcReduction="20000"/>
          </a:bodyPr>
          <a:lstStyle/>
          <a:p>
            <a:r>
              <a:rPr lang="en-GB" dirty="0"/>
              <a:t>Demographic analysis is the collection and analysis of broad characteristics about groups of people and populations.
Demographic data is very useful for businesses to understand how to market to consumers and plan strategically for future trends in consumer demand.
The combination of the internet, big data, and artificial intelligence is greatly amplifying the usefulness and application of demographics as a tool for marketing and business strategy.</a:t>
            </a:r>
            <a:endParaRPr lang="en-US" dirty="0"/>
          </a:p>
        </p:txBody>
      </p:sp>
      <p:sp>
        <p:nvSpPr>
          <p:cNvPr id="5" name="Text Placeholder 4">
            <a:extLst>
              <a:ext uri="{FF2B5EF4-FFF2-40B4-BE49-F238E27FC236}">
                <a16:creationId xmlns:a16="http://schemas.microsoft.com/office/drawing/2014/main" id="{2FDCEC81-7F42-9494-8C55-F3B0A1488652}"/>
              </a:ext>
            </a:extLst>
          </p:cNvPr>
          <p:cNvSpPr>
            <a:spLocks noGrp="1"/>
          </p:cNvSpPr>
          <p:nvPr>
            <p:ph type="body" sz="quarter" idx="3"/>
          </p:nvPr>
        </p:nvSpPr>
        <p:spPr/>
        <p:txBody>
          <a:bodyPr/>
          <a:lstStyle/>
          <a:p>
            <a:r>
              <a:rPr lang="en-GB" dirty="0"/>
              <a:t>Industrial category analysis </a:t>
            </a:r>
            <a:endParaRPr lang="en-US" dirty="0"/>
          </a:p>
        </p:txBody>
      </p:sp>
      <p:pic>
        <p:nvPicPr>
          <p:cNvPr id="7" name="Picture 7">
            <a:extLst>
              <a:ext uri="{FF2B5EF4-FFF2-40B4-BE49-F238E27FC236}">
                <a16:creationId xmlns:a16="http://schemas.microsoft.com/office/drawing/2014/main" id="{DA0D36D5-729B-2A42-FFA4-A4639B7C9B50}"/>
              </a:ext>
            </a:extLst>
          </p:cNvPr>
          <p:cNvPicPr>
            <a:picLocks noGrp="1" noChangeAspect="1"/>
          </p:cNvPicPr>
          <p:nvPr>
            <p:ph sz="quarter" idx="4"/>
          </p:nvPr>
        </p:nvPicPr>
        <p:blipFill>
          <a:blip r:embed="rId2"/>
          <a:stretch>
            <a:fillRect/>
          </a:stretch>
        </p:blipFill>
        <p:spPr>
          <a:xfrm>
            <a:off x="6096000" y="3273160"/>
            <a:ext cx="5082921" cy="2847868"/>
          </a:xfrm>
        </p:spPr>
      </p:pic>
    </p:spTree>
    <p:extLst>
      <p:ext uri="{BB962C8B-B14F-4D97-AF65-F5344CB8AC3E}">
        <p14:creationId xmlns:p14="http://schemas.microsoft.com/office/powerpoint/2010/main" val="850793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015DC-7D0F-27F7-6165-6FADFD06768C}"/>
              </a:ext>
            </a:extLst>
          </p:cNvPr>
          <p:cNvSpPr>
            <a:spLocks noGrp="1"/>
          </p:cNvSpPr>
          <p:nvPr>
            <p:ph type="title"/>
          </p:nvPr>
        </p:nvSpPr>
        <p:spPr/>
        <p:txBody>
          <a:bodyPr/>
          <a:lstStyle/>
          <a:p>
            <a:r>
              <a:rPr lang="en-GB" dirty="0"/>
              <a:t>Socioeconomic Insights </a:t>
            </a:r>
            <a:endParaRPr lang="en-US" dirty="0"/>
          </a:p>
        </p:txBody>
      </p:sp>
      <p:sp>
        <p:nvSpPr>
          <p:cNvPr id="8" name="Text Placeholder 2">
            <a:extLst>
              <a:ext uri="{FF2B5EF4-FFF2-40B4-BE49-F238E27FC236}">
                <a16:creationId xmlns:a16="http://schemas.microsoft.com/office/drawing/2014/main" id="{ABFE1082-1432-B616-E68F-6DE89A1D186B}"/>
              </a:ext>
            </a:extLst>
          </p:cNvPr>
          <p:cNvSpPr txBox="1">
            <a:spLocks noGrp="1"/>
          </p:cNvSpPr>
          <p:nvPr>
            <p:ph idx="1"/>
          </p:nvPr>
        </p:nvSpPr>
        <p:spPr>
          <a:prstGeom prst="rect">
            <a:avLst/>
          </a:prstGeom>
        </p:spPr>
        <p:txBody>
          <a:bodyPr vert="horz" lIns="91440" tIns="45720" rIns="91440" bIns="45720" rtlCol="0" anchor="t">
            <a:normAutofit fontScale="700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GB" dirty="0"/>
              <a:t> This paper examines the socio-economic condition of the migrant workers in Tamil </a:t>
            </a:r>
            <a:r>
              <a:rPr lang="en-GB" dirty="0" err="1"/>
              <a:t>Nadu.We</a:t>
            </a:r>
            <a:r>
              <a:rPr lang="en-GB" dirty="0"/>
              <a:t> analyse the income, consumption and savings pattern, and nature of work of the migrant workers in the Thiruvananthapuram district, based on data from a sample of 166 migrant workers. While existing studies provide evidences for short distance migration to Kerala from nearby states like Tamil Nadu and Karnataka, we find evidence for long distance migration from states like West Bengal and Assam in recent years. We find that informal information networks through migrant workers from native place plays important role in migration of workers to Kerala. Poor economic conditions in the native place and high wage rate and better employment opportunities in Kerala have been identified as the main reasons of migration to Kerala. Though there is barely any change in the nature of employment of the migrants even after migration, there has been a shift from the low-income brackets before migration to high-income brackets after migration. Notwithstanding the improved income level the living condition for most of migrant workers is deplorable, most of them live together in either poor rented houses or work sites with one room shared by many, without proper provision of hygienic sanitation.</a:t>
            </a:r>
            <a:endParaRPr lang="en-US" dirty="0"/>
          </a:p>
        </p:txBody>
      </p:sp>
    </p:spTree>
    <p:extLst>
      <p:ext uri="{BB962C8B-B14F-4D97-AF65-F5344CB8AC3E}">
        <p14:creationId xmlns:p14="http://schemas.microsoft.com/office/powerpoint/2010/main" val="2356976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C8DB2-F9D8-BAEF-FBA9-B29A5D10F71B}"/>
              </a:ext>
            </a:extLst>
          </p:cNvPr>
          <p:cNvSpPr>
            <a:spLocks noGrp="1"/>
          </p:cNvSpPr>
          <p:nvPr>
            <p:ph type="title"/>
          </p:nvPr>
        </p:nvSpPr>
        <p:spPr/>
        <p:txBody>
          <a:bodyPr/>
          <a:lstStyle/>
          <a:p>
            <a:r>
              <a:rPr lang="en-GB" dirty="0"/>
              <a:t>Approach </a:t>
            </a:r>
            <a:endParaRPr lang="en-US" dirty="0"/>
          </a:p>
        </p:txBody>
      </p:sp>
      <p:pic>
        <p:nvPicPr>
          <p:cNvPr id="4" name="Picture 4">
            <a:extLst>
              <a:ext uri="{FF2B5EF4-FFF2-40B4-BE49-F238E27FC236}">
                <a16:creationId xmlns:a16="http://schemas.microsoft.com/office/drawing/2014/main" id="{32FDFD00-0D15-BB18-C6AD-DD152B16B762}"/>
              </a:ext>
            </a:extLst>
          </p:cNvPr>
          <p:cNvPicPr>
            <a:picLocks noGrp="1" noChangeAspect="1"/>
          </p:cNvPicPr>
          <p:nvPr>
            <p:ph idx="1"/>
          </p:nvPr>
        </p:nvPicPr>
        <p:blipFill>
          <a:blip r:embed="rId2"/>
          <a:stretch>
            <a:fillRect/>
          </a:stretch>
        </p:blipFill>
        <p:spPr>
          <a:xfrm>
            <a:off x="871792" y="2557993"/>
            <a:ext cx="3661854" cy="3317875"/>
          </a:xfrm>
        </p:spPr>
      </p:pic>
      <p:pic>
        <p:nvPicPr>
          <p:cNvPr id="5" name="Picture 5">
            <a:extLst>
              <a:ext uri="{FF2B5EF4-FFF2-40B4-BE49-F238E27FC236}">
                <a16:creationId xmlns:a16="http://schemas.microsoft.com/office/drawing/2014/main" id="{22445072-781B-7D1D-8BC7-47D65BFFB531}"/>
              </a:ext>
            </a:extLst>
          </p:cNvPr>
          <p:cNvPicPr>
            <a:picLocks noChangeAspect="1"/>
          </p:cNvPicPr>
          <p:nvPr/>
        </p:nvPicPr>
        <p:blipFill>
          <a:blip r:embed="rId3"/>
          <a:stretch>
            <a:fillRect/>
          </a:stretch>
        </p:blipFill>
        <p:spPr>
          <a:xfrm>
            <a:off x="4778946" y="2733940"/>
            <a:ext cx="3903893" cy="3475303"/>
          </a:xfrm>
          <a:prstGeom prst="rect">
            <a:avLst/>
          </a:prstGeom>
        </p:spPr>
      </p:pic>
      <p:pic>
        <p:nvPicPr>
          <p:cNvPr id="6" name="Picture 6">
            <a:extLst>
              <a:ext uri="{FF2B5EF4-FFF2-40B4-BE49-F238E27FC236}">
                <a16:creationId xmlns:a16="http://schemas.microsoft.com/office/drawing/2014/main" id="{0B3228B4-B6B7-F23A-27D8-0336775F669A}"/>
              </a:ext>
            </a:extLst>
          </p:cNvPr>
          <p:cNvPicPr>
            <a:picLocks noChangeAspect="1"/>
          </p:cNvPicPr>
          <p:nvPr/>
        </p:nvPicPr>
        <p:blipFill>
          <a:blip r:embed="rId4"/>
          <a:stretch>
            <a:fillRect/>
          </a:stretch>
        </p:blipFill>
        <p:spPr>
          <a:xfrm>
            <a:off x="8490410" y="3345658"/>
            <a:ext cx="2973707" cy="2452688"/>
          </a:xfrm>
          <a:prstGeom prst="rect">
            <a:avLst/>
          </a:prstGeom>
        </p:spPr>
      </p:pic>
    </p:spTree>
    <p:extLst>
      <p:ext uri="{BB962C8B-B14F-4D97-AF65-F5344CB8AC3E}">
        <p14:creationId xmlns:p14="http://schemas.microsoft.com/office/powerpoint/2010/main" val="3162170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D46DD-C1B4-9241-9DF8-3DF0863686FA}"/>
              </a:ext>
            </a:extLst>
          </p:cNvPr>
          <p:cNvSpPr>
            <a:spLocks noGrp="1"/>
          </p:cNvSpPr>
          <p:nvPr>
            <p:ph type="title"/>
          </p:nvPr>
        </p:nvSpPr>
        <p:spPr/>
        <p:txBody>
          <a:bodyPr/>
          <a:lstStyle/>
          <a:p>
            <a:r>
              <a:rPr lang="en-GB" dirty="0"/>
              <a:t>Conclusion </a:t>
            </a:r>
            <a:endParaRPr lang="en-US" dirty="0"/>
          </a:p>
        </p:txBody>
      </p:sp>
      <p:sp>
        <p:nvSpPr>
          <p:cNvPr id="3" name="Content Placeholder 2">
            <a:extLst>
              <a:ext uri="{FF2B5EF4-FFF2-40B4-BE49-F238E27FC236}">
                <a16:creationId xmlns:a16="http://schemas.microsoft.com/office/drawing/2014/main" id="{C1F485C8-C132-91A4-F721-CAF77446E697}"/>
              </a:ext>
            </a:extLst>
          </p:cNvPr>
          <p:cNvSpPr>
            <a:spLocks noGrp="1"/>
          </p:cNvSpPr>
          <p:nvPr>
            <p:ph idx="1"/>
          </p:nvPr>
        </p:nvSpPr>
        <p:spPr>
          <a:xfrm>
            <a:off x="1295402" y="2556932"/>
            <a:ext cx="9601196" cy="3318936"/>
          </a:xfrm>
        </p:spPr>
        <p:txBody>
          <a:bodyPr/>
          <a:lstStyle/>
          <a:p>
            <a:r>
              <a:rPr lang="en-GB" b="0" i="0" dirty="0">
                <a:solidFill>
                  <a:schemeClr val="bg2">
                    <a:lumMod val="10000"/>
                  </a:schemeClr>
                </a:solidFill>
                <a:effectLst/>
                <a:latin typeface="Roboto" panose="02000000000000000000" pitchFamily="2" charset="0"/>
              </a:rPr>
              <a:t>Empowers marketers to easily collect &amp; process data from nearly any online source. Create a multiplier effect that enables marketers to maximise the efficiency. Customer Experience</a:t>
            </a:r>
            <a:endParaRPr lang="en-US" dirty="0">
              <a:solidFill>
                <a:schemeClr val="bg2">
                  <a:lumMod val="10000"/>
                </a:schemeClr>
              </a:solidFill>
            </a:endParaRPr>
          </a:p>
        </p:txBody>
      </p:sp>
    </p:spTree>
    <p:extLst>
      <p:ext uri="{BB962C8B-B14F-4D97-AF65-F5344CB8AC3E}">
        <p14:creationId xmlns:p14="http://schemas.microsoft.com/office/powerpoint/2010/main" val="258515086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image" Target="../media/image1.jpeg" /></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Slides>
  <Notes>0</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Organic</vt:lpstr>
      <vt:lpstr>Customer churn prediction </vt:lpstr>
      <vt:lpstr>Customer churn prediction </vt:lpstr>
      <vt:lpstr>PowerPoint Presentation</vt:lpstr>
      <vt:lpstr>Socioeconomic Insights </vt:lpstr>
      <vt:lpstr>Approach </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prediction </dc:title>
  <dc:creator>srajikcuti@gmail.com</dc:creator>
  <cp:lastModifiedBy>srajikcuti@gmail.com</cp:lastModifiedBy>
  <cp:revision>2</cp:revision>
  <dcterms:created xsi:type="dcterms:W3CDTF">2023-09-28T15:47:09Z</dcterms:created>
  <dcterms:modified xsi:type="dcterms:W3CDTF">2023-09-28T16:41:08Z</dcterms:modified>
</cp:coreProperties>
</file>